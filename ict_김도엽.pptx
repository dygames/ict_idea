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059" autoAdjust="0"/>
  </p:normalViewPr>
  <p:slideViewPr>
    <p:cSldViewPr snapToGrid="0">
      <p:cViewPr varScale="1">
        <p:scale>
          <a:sx n="95" d="100"/>
          <a:sy n="95" d="100"/>
        </p:scale>
        <p:origin x="11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C4442-06D1-41C7-B15A-43CFE4DF79D7}" type="datetimeFigureOut">
              <a:rPr lang="ko-KR" altLang="en-US" smtClean="0"/>
              <a:t>2020-10-28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29EC2-BF0D-4C7B-B0EE-84E9654A7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20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사용자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더 이상 필요 없는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버려지는 물품을 다른 사용자와 공유할 수 있도록 하는 서비스입니다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사용자는 다른 사용자와 직접 거래를 하거나 서비스에서 제공하는 중개 거래 기능을 이용해 신속하고 체계적으로 물품을 공유할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625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군에 입대하여 자대에 배치를 받아 열심히 생활하던 저는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보급품이 사람에 따라 너무 많거나 너무 적다는 생각을 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다른 사람에 비해 땀이 자주 나는 사람은 하루에도 샤워를 두 번씩은 하여 속옷이나 양말이 부족하여 불편함을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겪는다던가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추위를 별로 타지 않는 사람은 동내의가 필요하지 않아 보급을 받고 방치해 놓는 경우가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누군가가 이런 사실을 파악하고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자신에게 필요 없는 물건을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나누어주면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문제는 간단히 해결되었지만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이해관계가 맞는 사람이 만나 이야기를 하기 전엔 알 수가 없어 불편하게 생활을 하는 모습을 많이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목격했었습니다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그러던 중 전역자가 자신이 쓰던 물건을 후임병들에게 물려주면서 여러 물건을 공유해 쓰는 모습을 보고 이런 행위를 전국적으로 확대하면 어떨까 하고 생각하였습니다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dirty="0"/>
          </a:p>
          <a:p>
            <a:pPr fontAlgn="base" latinLnBrk="0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이런 물품들의 수요와 공급을 체계적으로 파악하고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공유할 수 있는 커뮤니티를 마련하면 모두에게 이득이 될 수 있다는 생각을 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여기에서 더 나아가서 보급품만이 아닌 개인 물품 공유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 단위로 물자를 공유하면 전 군에서 낭비되는 물품을 줄이고 이러한 비용을 줄여 다른 곳에 투자할 수 있겠다고 생각하였습니다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사업화하여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 대 개인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 대 부대로 물건을 주고받는 것과 더불어 사업체의 물류 창고에 물품을 적재하고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분류하여 제공자에겐 제공한 물품에 맞는 적절한 보상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포인트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주어지고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수혜자는 포인트와 배송비만 납부하면 필요한 물건만 체계적이고 신속하게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비대면으로 수령할 수 있는 사업으로 발전 시킬 수 있다고 생각하였습니다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7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서비스의 핵심 키워드는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자원 절약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선순환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비대면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공유경제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자원 절약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서비스는 기존에 무심히 버려졌던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버릴 뻔한 물건을 공유함으로 자원을 절약합니다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선순환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서비스를 이용해 물건을 공유하고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공유받는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특별한 경험은 다른 사람에게도 전파되어 더 많이 공유할수록 더 많이 얻게 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많이 절약하게 되는 개인적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사회적 이득의 선순환이 이루어집니다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비대면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직접 만나서 물건을 주고받을 수 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택배 거래 또는 중개 거래 기능을 이용하여 비대면으로 물품을 공유합니다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402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이용 타겟은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병사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안드로이드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iOS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구동되는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애플리케이션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형태로 제공되는 서비스입니다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606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거래 방식은 병사와 병사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부대와 부대가 서비스에서 제공하는 커뮤니티에서 직접 약속을 맺고 비대면으로 거래하는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 (Peer to Peer)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그리고 서비스에서 중개를 맡아 제공자는 필요 없는 물건을 제공하여 물류 창고에 적재하고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수혜자는 물건 현황을 조회하여 그 중 필요한 물건을 선택하여 가져가는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중개 거래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중개 거래는 무분별한 수혜를 막기 위해 제공자가 제공한 물건의 가치에 맞는 포인트를 얻고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포인트로 물건을 제공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받을수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있게 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267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 내 화면은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회원 가입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화면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탐색하기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 정보 확인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이루어져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회원 가입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화면에서는 사용자의 구분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개인정보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연락처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등의 거래에 필요한 기본적인 정보를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입력받습니다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로그인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화면에서는 사용자의 로그인 정보를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입력받습니다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화면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크게 직접 거래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(P2P)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메뉴와 중개 거래 메뉴로 나누어집니다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거래는 다른 사용자와 직접 거래를 할 수 있는 메뉴이고 중개 거래는 물류 창고에 적재된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 현황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확인하고 제공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수령할 수 있는 메뉴입니다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거래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메뉴에서는 최근 올라온 물건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요청한 물건 등의 정보를 전체적으로 한눈에 파악할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중개 거래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메뉴에서는 최근 제공된 물건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많이 제공된 물건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 제공하기 등의 정보를 전체적으로 한눈에 파악할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탐색하기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화면에서는 여러 가지 방식으로 정렬된 정보를 확인할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거래 기능을 이용한 사용자가 올린 물건을 카테고리별로 확인할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거래 기능을 이용하여 원하는 물건을 요청할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중개 거래 기능을 이용해 물류 창고에 적재된 물건을 카테고리별로 확인할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화면에서는 자신이 필요한 물건이나 정보를 검색하고 결과를 확인할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 정보 확인 화면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개인정보 확인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포인트 내역 확인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주고받은 물건 확인 등의 정보를 확인할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675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거래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(P2P)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물품을 제공하는 사용자는 사진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등의 정보를 적어 거래 글을 작성합니다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자신에게 필요한 물품을 찾은 사용자는 제공자에게 연락하여 주소와 배송비를 전달하고 물품을 수령합니다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필요한 물품이 있는 사용자는 물품의 종류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개수 등의 정보를 적어 거래 글을 작성합니다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해당 물품을 제공할 의향이 있는 사용자는 주소와 배송비를 전달받고 물품을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중개 거래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물품을 제공하는 사용자는 제공할 물건의 종류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등의 정보를 서비스에 제공하고 물품을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제공 받은 물품에 대해 분류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평가를 하여 창고에 적재하고 제공한 사용자에게 포인트를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제공받은 물건들의 리스트는 앱에서 확인할 수 있고 제공받은 포인트로 구매하여 제공받을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948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기술적 가치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다른 기능은 평범하게 구현할 수 있는 기능이지만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물류 창고에 입고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출고되는 물건과 현황을 체계화하여 사용자에게 표시해주고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입고되는 물건의 가치를 자동으로 매기는 기능은 매우 많은 기술을 요구로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이곳에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 처리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인공 지능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도입하여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입고된 물건을 카메라로 찍으면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자동으로 분류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점수를 매기고 체계화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물건의 종류를 분류하여 기존에 있던 물건인지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 입고된 물건인지 파악하여 수량을 자동으로 최신화하고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물건에 하자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작동 여부를 파악하여 점수를 매기고 제공자에게 적절한 포인트를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이렇게 제작된 기술은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뿐만 아니라 많은 양의 물건을 다루는 곳에서 다양하게 활용될 소지가 있다고 판단됩니다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사업적 가치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2018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전국에서 하루에만 처리되는 폐기물의 양이 무려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446,102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톤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(2018,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한국폐기물협회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이렇게 엄청난 양의 폐기물이 생산되고 이에 대한 환경 비용도 천문학적으로 높아지고 있는 시점에 병사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부대끼리 버려지는 물건을 서로 공유하고 처리하는 사업은 그 자체로도 사회적으로 큰 가치가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847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인터넷 음악 공유 프로그램인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소울식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에서는 자신이 가진 자료를 많이 공유하면 할수록 다운로드 속도가 빨라지도록 하는 정책을 취하고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목적에 부합하는 커뮤니티 분위기 형성에 큰 도움을 줬고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소울식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프로그램이 성공하게 되는 계기가 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(http://www.slsknet.org/news/)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서비스의 중개 거래 방식에는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포인트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개념이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포인트는 물건을 제공한 사용자가 다른 물건을 제공 받을 수 있게 사용되는 일종의 가상 화폐입니다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이 포인트를 사용하는 이유는 위와 같이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무분별한 물건 수혜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막고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선순환이 이루어지는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커뮤니티 환경을 조성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하기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위함입니다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사용자들은 중개 거래 방식을 그저 자신에게 필요 없는 물건을 버리는 것이 아닌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사람이 함께 물건을 공유하고 모두에게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경제적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환경적으로 이익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줄 수 있는 환경을 조성할 수 있는 방식이라고 이해할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451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구현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Android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 Studio IDE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언어를 이용해 구현한다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iOS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XCode IDE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Swift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언어를 이용해 구현한다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Server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Apache(WS), Tomcat(WAS), Spring Boot(Backend)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등을 이용해 구현한다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DB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 DB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창고 물품 현황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 DBMS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이용해 구현한다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 분류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평가 기술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영상 처리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OpenCV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인공 지능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TensorFlow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체계도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01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자신의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교환하는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공유경제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자신에게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필요없는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있을때마다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자연스럽게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이용하여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목적을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달성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할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병영생활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자리잡을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Play Store, iOS App Store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런칭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군 장병 인터넷 커뮤니티 중심으로 홍보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물류 창고에 물품이 제공되지만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원치 않아 일정 기간 제공되지 못한 물품은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사업 수단으로 활용할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이러한 물건들을 판매할 수 있는 체계를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마련해놓고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판매하거나 재활용해 수익으로 전환합니다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또한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 분류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평가 기술을 물류 센터를 운영하거나 필요로 하는 타 기업에 판매하여 수익을 창출합니다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64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장병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군 생활을 하면서 필요했던 여러 가지 물건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생필품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보급품 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자신이 필요하지 않은 물건을 제공함으로써 공유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받을수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물품을 다량 제공한 사용자에게 성취감을 부여하고 부대와 연계하여 상점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휴가등의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포상을 부여할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바탕" panose="02030600000101010101" pitchFamily="18" charset="-127"/>
              </a:rPr>
              <a:t>-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ea typeface="바탕" panose="02030600000101010101" pitchFamily="18" charset="-127"/>
              </a:rPr>
              <a:t>부대</a:t>
            </a:r>
            <a:endParaRPr lang="ko-KR" altLang="en-US" sz="1800" b="1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ea typeface="바탕" panose="02030600000101010101" pitchFamily="18" charset="-127"/>
              </a:rPr>
              <a:t>∘ 보급품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바탕" panose="0203060000010101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바탕" panose="02030600000101010101" pitchFamily="18" charset="-127"/>
              </a:rPr>
              <a:t>기타 물품 등 처리하기 어려웠던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바탕" panose="0203060000010101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바탕" panose="02030600000101010101" pitchFamily="18" charset="-127"/>
              </a:rPr>
              <a:t>폐기해야만 하는 물품들을 다른 부대에 공유함으로써 낭비를 방지할 수 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바탕" panose="0203060000010101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ea typeface="바탕" panose="02030600000101010101" pitchFamily="18" charset="-127"/>
              </a:rPr>
              <a:t>∘ 병사들에게 서비스 사용을 권장하여 불필요하게 제기되는 소요들을 방지할 수 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바탕" panose="0203060000010101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83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use-case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곧 전역을 맞아 양말과 수건을 버리려고 한 김 병장은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서비스를 이용해 보급품이 더 필요한 타 부대의 최 일병에게 제공하였다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부대에서 부식으로 제공된 컵라면이 많이 남아 처리할 방법이 곤란했지만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서비스를 이용해 컵라면이 더 필요한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부대에 제공하였다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자신에게 더 이상 필요하지 않은 손전등과 휴대폰 거치대를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서비스의 중개 거래 기능을 이용해 제공한 이 상병은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제공 후 받은 포인트를 이용해 자기에게 필요한 수저 통을 제공받았다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 분류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평가 기술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이 기술은 여러 가지 물건을 분류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평가하고 그 데이터를 활용해야 하는 기업에서 활용 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29EC2-BF0D-4C7B-B0EE-84E9654A739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156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F396-9983-44A8-9891-92D818B14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000" dirty="0"/>
              <a:t>2020 </a:t>
            </a:r>
            <a:r>
              <a:rPr lang="ko-KR" altLang="en-US" sz="4000" dirty="0"/>
              <a:t> </a:t>
            </a:r>
            <a:r>
              <a:rPr lang="en-US" altLang="ko-KR" sz="4000" dirty="0"/>
              <a:t>ICT </a:t>
            </a:r>
            <a:r>
              <a:rPr lang="ko-KR" altLang="en-US" sz="4000" dirty="0"/>
              <a:t>융합 아이디어 공모전</a:t>
            </a:r>
            <a:br>
              <a:rPr lang="en-US" altLang="ko-KR" sz="4000" dirty="0"/>
            </a:br>
            <a:r>
              <a:rPr lang="ko-KR" altLang="en-US" sz="2800" dirty="0" err="1"/>
              <a:t>비대면</a:t>
            </a:r>
            <a:r>
              <a:rPr lang="ko-KR" altLang="en-US" sz="2800" dirty="0"/>
              <a:t> 물품 공유 서비스 “</a:t>
            </a:r>
            <a:r>
              <a:rPr lang="en-US" altLang="ko-KR" sz="2800" dirty="0" err="1"/>
              <a:t>ArmyShare</a:t>
            </a:r>
            <a:r>
              <a:rPr lang="en-US" altLang="ko-KR" sz="2800" dirty="0"/>
              <a:t>”</a:t>
            </a:r>
            <a:br>
              <a:rPr lang="ko-KR" altLang="en-US" sz="2800" dirty="0"/>
            </a:b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D396EC-D9E5-4DA7-8DE3-D1613C7C6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계룡대근무지원단</a:t>
            </a:r>
            <a:r>
              <a:rPr lang="ko-KR" altLang="en-US" dirty="0"/>
              <a:t> 관리대대 </a:t>
            </a:r>
            <a:r>
              <a:rPr lang="en-US" altLang="ko-KR" dirty="0"/>
              <a:t>2</a:t>
            </a:r>
            <a:r>
              <a:rPr lang="ko-KR" altLang="en-US" dirty="0"/>
              <a:t>중대 상병 </a:t>
            </a:r>
            <a:r>
              <a:rPr lang="ko-KR" altLang="en-US" dirty="0" err="1"/>
              <a:t>김도엽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039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아이디어 소개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16E8E8-3196-4685-9CCC-03C66DA25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99" y="2562224"/>
            <a:ext cx="1961845" cy="1961845"/>
          </a:xfrm>
          <a:prstGeom prst="rect">
            <a:avLst/>
          </a:prstGeom>
        </p:spPr>
      </p:pic>
      <p:sp>
        <p:nvSpPr>
          <p:cNvPr id="10" name="화살표: 원형 9">
            <a:extLst>
              <a:ext uri="{FF2B5EF4-FFF2-40B4-BE49-F238E27FC236}">
                <a16:creationId xmlns:a16="http://schemas.microsoft.com/office/drawing/2014/main" id="{66BE41F2-5B67-41DB-812A-D8F8BCCD012C}"/>
              </a:ext>
            </a:extLst>
          </p:cNvPr>
          <p:cNvSpPr/>
          <p:nvPr/>
        </p:nvSpPr>
        <p:spPr>
          <a:xfrm>
            <a:off x="2794222" y="1255712"/>
            <a:ext cx="3781425" cy="242887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E897969-B5DD-418F-AEBE-CE85E16F7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647" y="2562223"/>
            <a:ext cx="1961845" cy="1961845"/>
          </a:xfrm>
          <a:prstGeom prst="rect">
            <a:avLst/>
          </a:prstGeom>
        </p:spPr>
      </p:pic>
      <p:sp>
        <p:nvSpPr>
          <p:cNvPr id="15" name="화살표: 원형 14">
            <a:extLst>
              <a:ext uri="{FF2B5EF4-FFF2-40B4-BE49-F238E27FC236}">
                <a16:creationId xmlns:a16="http://schemas.microsoft.com/office/drawing/2014/main" id="{70AD14EC-632B-4631-9A1C-056608EA6FD9}"/>
              </a:ext>
            </a:extLst>
          </p:cNvPr>
          <p:cNvSpPr/>
          <p:nvPr/>
        </p:nvSpPr>
        <p:spPr>
          <a:xfrm flipH="1" flipV="1">
            <a:off x="2838145" y="3819523"/>
            <a:ext cx="3737502" cy="242887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23913C2-8D64-4A38-B970-1A3DB4375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15" y="1871662"/>
            <a:ext cx="690561" cy="69056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00F7D89-D975-4479-AB49-AB38627B2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15" y="4911727"/>
            <a:ext cx="690561" cy="69056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E4487FB-E321-42BC-98D4-F5E6140F34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0249" y="2938460"/>
            <a:ext cx="1209370" cy="1209370"/>
          </a:xfrm>
          <a:prstGeom prst="rect">
            <a:avLst/>
          </a:prstGeom>
        </p:spPr>
      </p:pic>
      <p:sp>
        <p:nvSpPr>
          <p:cNvPr id="21" name="화살표: 왼쪽/오른쪽 20">
            <a:extLst>
              <a:ext uri="{FF2B5EF4-FFF2-40B4-BE49-F238E27FC236}">
                <a16:creationId xmlns:a16="http://schemas.microsoft.com/office/drawing/2014/main" id="{9C068E9E-15A0-4D3D-88D3-676A39165850}"/>
              </a:ext>
            </a:extLst>
          </p:cNvPr>
          <p:cNvSpPr/>
          <p:nvPr/>
        </p:nvSpPr>
        <p:spPr>
          <a:xfrm>
            <a:off x="2726368" y="3489325"/>
            <a:ext cx="1082453" cy="390523"/>
          </a:xfrm>
          <a:prstGeom prst="left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왼쪽/오른쪽 21">
            <a:extLst>
              <a:ext uri="{FF2B5EF4-FFF2-40B4-BE49-F238E27FC236}">
                <a16:creationId xmlns:a16="http://schemas.microsoft.com/office/drawing/2014/main" id="{97155D06-A5CE-4335-AB48-2B0FF09B2037}"/>
              </a:ext>
            </a:extLst>
          </p:cNvPr>
          <p:cNvSpPr/>
          <p:nvPr/>
        </p:nvSpPr>
        <p:spPr>
          <a:xfrm>
            <a:off x="5493712" y="3489324"/>
            <a:ext cx="1082453" cy="390523"/>
          </a:xfrm>
          <a:prstGeom prst="leftRightArrow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56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제안 동기</a:t>
            </a:r>
            <a:br>
              <a:rPr lang="ko-KR" altLang="en-US" dirty="0"/>
            </a:br>
            <a:r>
              <a:rPr lang="ko-KR" altLang="en-US" dirty="0"/>
              <a:t>사업화 배경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ABF5A18-C9A4-4B11-861D-F1C5F4222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보급품의 불균형</a:t>
            </a:r>
            <a:endParaRPr lang="en-US" altLang="ko-KR" dirty="0"/>
          </a:p>
          <a:p>
            <a:r>
              <a:rPr lang="ko-KR" altLang="en-US" dirty="0"/>
              <a:t>타인과의 공유</a:t>
            </a:r>
            <a:endParaRPr lang="en-US" altLang="ko-KR" dirty="0"/>
          </a:p>
          <a:p>
            <a:r>
              <a:rPr lang="ko-KR" altLang="en-US" dirty="0"/>
              <a:t>수요와 공급 체계적으로 파악</a:t>
            </a:r>
            <a:endParaRPr lang="en-US" altLang="ko-KR" dirty="0"/>
          </a:p>
          <a:p>
            <a:r>
              <a:rPr lang="ko-KR" altLang="en-US" dirty="0"/>
              <a:t>공유 커뮤니티 마련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보급품만이 아닌 개인 물품</a:t>
            </a:r>
            <a:r>
              <a:rPr lang="en-US" altLang="ko-KR" dirty="0"/>
              <a:t> </a:t>
            </a:r>
            <a:r>
              <a:rPr lang="ko-KR" altLang="en-US" dirty="0"/>
              <a:t>공유</a:t>
            </a:r>
            <a:endParaRPr lang="en-US" altLang="ko-KR" dirty="0"/>
          </a:p>
          <a:p>
            <a:r>
              <a:rPr lang="ko-KR" altLang="en-US" dirty="0"/>
              <a:t>부대 물자 공유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체계적으로</a:t>
            </a:r>
            <a:r>
              <a:rPr lang="en-US" altLang="ko-KR" dirty="0"/>
              <a:t>, </a:t>
            </a:r>
            <a:r>
              <a:rPr lang="ko-KR" altLang="en-US" dirty="0"/>
              <a:t>신속하게</a:t>
            </a:r>
            <a:r>
              <a:rPr lang="en-US" altLang="ko-KR" dirty="0"/>
              <a:t>, </a:t>
            </a:r>
            <a:r>
              <a:rPr lang="ko-KR" altLang="en-US" dirty="0"/>
              <a:t>비대면으로</a:t>
            </a:r>
            <a:endParaRPr lang="en-US" altLang="ko-KR" dirty="0"/>
          </a:p>
          <a:p>
            <a:r>
              <a:rPr lang="ko-KR" altLang="en-US" dirty="0"/>
              <a:t>물류 창고</a:t>
            </a:r>
          </a:p>
        </p:txBody>
      </p:sp>
    </p:spTree>
    <p:extLst>
      <p:ext uri="{BB962C8B-B14F-4D97-AF65-F5344CB8AC3E}">
        <p14:creationId xmlns:p14="http://schemas.microsoft.com/office/powerpoint/2010/main" val="356885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키워드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A678260-86A5-4F95-91BC-A60A0FE5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자원 절약</a:t>
            </a:r>
            <a:endParaRPr lang="en-US" altLang="ko-KR" sz="2800" dirty="0"/>
          </a:p>
          <a:p>
            <a:r>
              <a:rPr lang="ko-KR" altLang="en-US" sz="2800" dirty="0"/>
              <a:t>선순환</a:t>
            </a:r>
            <a:endParaRPr lang="en-US" altLang="ko-KR" sz="2800" dirty="0"/>
          </a:p>
          <a:p>
            <a:r>
              <a:rPr lang="ko-KR" altLang="en-US" sz="2800" dirty="0" err="1"/>
              <a:t>비대면</a:t>
            </a:r>
            <a:endParaRPr lang="en-US" altLang="ko-KR" sz="2800" dirty="0"/>
          </a:p>
          <a:p>
            <a:r>
              <a:rPr lang="ko-KR" altLang="en-US" sz="2800" dirty="0"/>
              <a:t>공유경제</a:t>
            </a:r>
          </a:p>
        </p:txBody>
      </p:sp>
    </p:spTree>
    <p:extLst>
      <p:ext uri="{BB962C8B-B14F-4D97-AF65-F5344CB8AC3E}">
        <p14:creationId xmlns:p14="http://schemas.microsoft.com/office/powerpoint/2010/main" val="345292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이용 타겟</a:t>
            </a:r>
            <a:r>
              <a:rPr lang="en-US" altLang="ko-KR" dirty="0"/>
              <a:t>					</a:t>
            </a:r>
            <a:r>
              <a:rPr lang="ko-KR" altLang="en-US" dirty="0"/>
              <a:t>플랫폼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DB54AE-4515-4B50-9697-D784F0E28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44" y="2006600"/>
            <a:ext cx="1422400" cy="1422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5690B3-1E9A-48F8-8BA1-AB0AE55F7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43" y="3721100"/>
            <a:ext cx="1422400" cy="142240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20C14C6-E09B-4EE7-AD4E-3CD1DA7DB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692" y="1714498"/>
            <a:ext cx="1714501" cy="171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eb-ios-logo | Cardiac Exercise Research Group">
            <a:extLst>
              <a:ext uri="{FF2B5EF4-FFF2-40B4-BE49-F238E27FC236}">
                <a16:creationId xmlns:a16="http://schemas.microsoft.com/office/drawing/2014/main" id="{ECA19DCD-F8FC-45B9-8F72-7D9809B7D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692" y="3428999"/>
            <a:ext cx="1714501" cy="171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68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거래 방식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E3AEF2-0953-4A3C-897A-591DC1502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548" y="2181530"/>
            <a:ext cx="1733245" cy="1733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39AB55-7E9E-408B-AC18-2E3E96853B9D}"/>
              </a:ext>
            </a:extLst>
          </p:cNvPr>
          <p:cNvSpPr txBox="1"/>
          <p:nvPr/>
        </p:nvSpPr>
        <p:spPr>
          <a:xfrm>
            <a:off x="1025566" y="4558269"/>
            <a:ext cx="2071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P2P (Peer to Peer)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3C5F6C-C409-4756-9DAD-DCA4BF6AA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755" y="2181529"/>
            <a:ext cx="1733245" cy="1733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BB021E-0983-4D3F-B4B0-2284F2ADD6BF}"/>
              </a:ext>
            </a:extLst>
          </p:cNvPr>
          <p:cNvSpPr txBox="1"/>
          <p:nvPr/>
        </p:nvSpPr>
        <p:spPr>
          <a:xfrm>
            <a:off x="4362755" y="4558269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중개 거래 방식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E8474CC-D989-4484-A3C7-EE95AFFBA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962" y="2181529"/>
            <a:ext cx="1733245" cy="17332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1DA659-3B84-429D-A7E1-347465DAFFA9}"/>
              </a:ext>
            </a:extLst>
          </p:cNvPr>
          <p:cNvSpPr txBox="1"/>
          <p:nvPr/>
        </p:nvSpPr>
        <p:spPr>
          <a:xfrm>
            <a:off x="7693705" y="4558269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포인트 제도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47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앱 명세</a:t>
            </a:r>
          </a:p>
        </p:txBody>
      </p:sp>
      <p:pic>
        <p:nvPicPr>
          <p:cNvPr id="1025" name="_x530435832">
            <a:extLst>
              <a:ext uri="{FF2B5EF4-FFF2-40B4-BE49-F238E27FC236}">
                <a16:creationId xmlns:a16="http://schemas.microsoft.com/office/drawing/2014/main" id="{4EE0AB9B-C641-4043-97C1-8B0425691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270000"/>
            <a:ext cx="5186161" cy="509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FB04B81-5828-43D4-B100-46EC8ACC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3494" y="1270001"/>
            <a:ext cx="3410507" cy="5095874"/>
          </a:xfrm>
        </p:spPr>
        <p:txBody>
          <a:bodyPr/>
          <a:lstStyle/>
          <a:p>
            <a:r>
              <a:rPr lang="ko-KR" altLang="en-US" dirty="0"/>
              <a:t>회원 가입</a:t>
            </a:r>
            <a:endParaRPr lang="en-US" altLang="ko-KR" dirty="0"/>
          </a:p>
          <a:p>
            <a:r>
              <a:rPr lang="ko-KR" altLang="en-US" dirty="0"/>
              <a:t>로그인</a:t>
            </a:r>
            <a:endParaRPr lang="en-US" altLang="ko-KR" dirty="0"/>
          </a:p>
          <a:p>
            <a:r>
              <a:rPr lang="ko-KR" altLang="en-US" dirty="0"/>
              <a:t>메인 화면</a:t>
            </a:r>
            <a:endParaRPr lang="en-US" altLang="ko-KR" dirty="0"/>
          </a:p>
          <a:p>
            <a:pPr lvl="1"/>
            <a:r>
              <a:rPr lang="ko-KR" altLang="en-US" dirty="0"/>
              <a:t>직접 거래</a:t>
            </a:r>
            <a:r>
              <a:rPr lang="en-US" altLang="ko-KR" dirty="0"/>
              <a:t>(P2P)</a:t>
            </a:r>
          </a:p>
          <a:p>
            <a:pPr lvl="1"/>
            <a:r>
              <a:rPr lang="ko-KR" altLang="en-US" dirty="0"/>
              <a:t>중개 거래</a:t>
            </a:r>
            <a:endParaRPr lang="en-US" altLang="ko-KR" dirty="0"/>
          </a:p>
          <a:p>
            <a:r>
              <a:rPr lang="ko-KR" altLang="en-US" dirty="0"/>
              <a:t>탐색하기</a:t>
            </a:r>
            <a:endParaRPr lang="en-US" altLang="ko-KR" dirty="0"/>
          </a:p>
          <a:p>
            <a:pPr lvl="1"/>
            <a:r>
              <a:rPr lang="ko-KR" altLang="en-US" dirty="0"/>
              <a:t>카테고리</a:t>
            </a:r>
            <a:endParaRPr lang="en-US" altLang="ko-KR" dirty="0"/>
          </a:p>
          <a:p>
            <a:pPr lvl="1"/>
            <a:r>
              <a:rPr lang="ko-KR" altLang="en-US" dirty="0"/>
              <a:t>물건 요청</a:t>
            </a:r>
            <a:endParaRPr lang="en-US" altLang="ko-KR" dirty="0"/>
          </a:p>
          <a:p>
            <a:pPr lvl="1"/>
            <a:r>
              <a:rPr lang="ko-KR" altLang="en-US" dirty="0"/>
              <a:t>물류 창고 확인</a:t>
            </a:r>
            <a:endParaRPr lang="en-US" altLang="ko-KR" dirty="0"/>
          </a:p>
          <a:p>
            <a:r>
              <a:rPr lang="ko-KR" altLang="en-US" dirty="0"/>
              <a:t>검색</a:t>
            </a:r>
            <a:endParaRPr lang="en-US" altLang="ko-KR" dirty="0"/>
          </a:p>
          <a:p>
            <a:r>
              <a:rPr lang="ko-KR" altLang="en-US" dirty="0"/>
              <a:t>내 정보 확인</a:t>
            </a:r>
          </a:p>
        </p:txBody>
      </p:sp>
    </p:spTree>
    <p:extLst>
      <p:ext uri="{BB962C8B-B14F-4D97-AF65-F5344CB8AC3E}">
        <p14:creationId xmlns:p14="http://schemas.microsoft.com/office/powerpoint/2010/main" val="4162037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거래 프로세스</a:t>
            </a:r>
            <a:br>
              <a:rPr lang="en-US" altLang="ko-KR" dirty="0"/>
            </a:br>
            <a:r>
              <a:rPr lang="ko-KR" altLang="en-US" dirty="0"/>
              <a:t>직접 거래</a:t>
            </a:r>
            <a:r>
              <a:rPr lang="en-US" altLang="ko-KR" dirty="0"/>
              <a:t>					</a:t>
            </a:r>
            <a:r>
              <a:rPr lang="ko-KR" altLang="en-US" dirty="0"/>
              <a:t>중개 거래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2A227C-0EDE-4F2C-96E7-DC4EEBCB8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025295" cy="3880773"/>
          </a:xfrm>
        </p:spPr>
        <p:txBody>
          <a:bodyPr>
            <a:normAutofit/>
          </a:bodyPr>
          <a:lstStyle/>
          <a:p>
            <a:r>
              <a:rPr lang="ko-KR" altLang="en-US" dirty="0"/>
              <a:t>물품 </a:t>
            </a:r>
            <a:r>
              <a:rPr lang="ko-KR" altLang="en-US" dirty="0" err="1"/>
              <a:t>거래글</a:t>
            </a:r>
            <a:r>
              <a:rPr lang="ko-KR" altLang="en-US" dirty="0"/>
              <a:t> 작성 </a:t>
            </a:r>
            <a:r>
              <a:rPr lang="en-US" altLang="ko-KR" dirty="0"/>
              <a:t>(</a:t>
            </a:r>
            <a:r>
              <a:rPr lang="ko-KR" altLang="en-US" dirty="0"/>
              <a:t>쌍방향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의향이 있는 </a:t>
            </a:r>
            <a:r>
              <a:rPr lang="ko-KR" altLang="en-US" dirty="0" err="1"/>
              <a:t>사용자끼리의</a:t>
            </a:r>
            <a:r>
              <a:rPr lang="ko-KR" altLang="en-US" dirty="0"/>
              <a:t> 매칭</a:t>
            </a:r>
            <a:endParaRPr lang="en-US" altLang="ko-KR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3421A1D-6ADD-491D-953D-A9857082798F}"/>
              </a:ext>
            </a:extLst>
          </p:cNvPr>
          <p:cNvSpPr txBox="1">
            <a:spLocks/>
          </p:cNvSpPr>
          <p:nvPr/>
        </p:nvSpPr>
        <p:spPr>
          <a:xfrm>
            <a:off x="4975668" y="2160589"/>
            <a:ext cx="4025295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사용자는 물품의 종류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상태를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제공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평가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dirty="0">
                <a:solidFill>
                  <a:schemeClr val="tx1"/>
                </a:solidFill>
              </a:rPr>
              <a:t>포인트로 환급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창고에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적제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앱에서 확인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dirty="0">
                <a:solidFill>
                  <a:schemeClr val="tx1"/>
                </a:solidFill>
              </a:rPr>
              <a:t>포인트로 구매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90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ko-KR" altLang="en-US" dirty="0"/>
              <a:t>기술적 가치와 사업적 가치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2A227C-0EDE-4F2C-96E7-DC4EEBCB8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>
            <a:normAutofit/>
          </a:bodyPr>
          <a:lstStyle/>
          <a:p>
            <a:r>
              <a:rPr lang="ko-KR" altLang="en-US" dirty="0"/>
              <a:t>영상 처리</a:t>
            </a:r>
            <a:r>
              <a:rPr lang="en-US" altLang="ko-KR" dirty="0"/>
              <a:t>, </a:t>
            </a:r>
            <a:r>
              <a:rPr lang="ko-KR" altLang="en-US" dirty="0"/>
              <a:t>인공 지능을 이용한 분류</a:t>
            </a:r>
            <a:r>
              <a:rPr lang="en-US" altLang="ko-KR" dirty="0"/>
              <a:t>-</a:t>
            </a:r>
            <a:r>
              <a:rPr lang="ko-KR" altLang="en-US" dirty="0"/>
              <a:t>가치 평가 기술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전국 일일 폐기물 </a:t>
            </a:r>
            <a:r>
              <a:rPr lang="en-US" altLang="ko-KR" dirty="0"/>
              <a:t>446,102</a:t>
            </a:r>
            <a:r>
              <a:rPr lang="ko-KR" altLang="en-US" dirty="0"/>
              <a:t>톤</a:t>
            </a:r>
            <a:endParaRPr lang="en-US" altLang="ko-KR" dirty="0"/>
          </a:p>
          <a:p>
            <a:r>
              <a:rPr lang="ko-KR" altLang="en-US" dirty="0" err="1"/>
              <a:t>버려질수</a:t>
            </a:r>
            <a:r>
              <a:rPr lang="ko-KR" altLang="en-US" dirty="0"/>
              <a:t> 있는 물건을 공유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0C29FC8B-BF47-4E27-B73C-448438796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417" y="2159000"/>
            <a:ext cx="3145536" cy="314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ko-KR" altLang="en-US" dirty="0"/>
              <a:t>독창성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4C2C76-1005-4036-AB75-A41F9F5D4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소울식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포인트</a:t>
            </a:r>
            <a:r>
              <a:rPr lang="en-US" altLang="ko-KR" dirty="0"/>
              <a:t>?</a:t>
            </a:r>
          </a:p>
          <a:p>
            <a:endParaRPr lang="en-US" dirty="0"/>
          </a:p>
          <a:p>
            <a:r>
              <a:rPr lang="ko-KR" altLang="en-US" dirty="0"/>
              <a:t>무분별한 물건 수혜 방지</a:t>
            </a:r>
            <a:endParaRPr lang="en-US" altLang="ko-KR" dirty="0"/>
          </a:p>
          <a:p>
            <a:r>
              <a:rPr lang="ko-KR" altLang="en-US" dirty="0"/>
              <a:t>커뮤니티 환경 조성</a:t>
            </a:r>
            <a:endParaRPr lang="en-US" altLang="ko-KR" dirty="0"/>
          </a:p>
          <a:p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환경적 이익</a:t>
            </a:r>
            <a:endParaRPr lang="en-US" dirty="0"/>
          </a:p>
        </p:txBody>
      </p:sp>
      <p:pic>
        <p:nvPicPr>
          <p:cNvPr id="5" name="내용 개체 틀 4" descr="화살이(가) 표시된 사진&#10;&#10;자동 생성된 설명">
            <a:extLst>
              <a:ext uri="{FF2B5EF4-FFF2-40B4-BE49-F238E27FC236}">
                <a16:creationId xmlns:a16="http://schemas.microsoft.com/office/drawing/2014/main" id="{428F3616-6D85-4D28-8801-4344D458A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417" y="2159000"/>
            <a:ext cx="3145536" cy="314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92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서비스 구현</a:t>
            </a:r>
          </a:p>
        </p:txBody>
      </p:sp>
      <p:pic>
        <p:nvPicPr>
          <p:cNvPr id="2049" name="_x530431440">
            <a:extLst>
              <a:ext uri="{FF2B5EF4-FFF2-40B4-BE49-F238E27FC236}">
                <a16:creationId xmlns:a16="http://schemas.microsoft.com/office/drawing/2014/main" id="{EC503FDB-F1A4-49FB-9727-CBA8E5B22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606550"/>
            <a:ext cx="8094823" cy="455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745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시장성과 사업화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2A227C-0EDE-4F2C-96E7-DC4EEBCB8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공유경제</a:t>
            </a:r>
            <a:endParaRPr lang="en-US" altLang="ko-KR" dirty="0"/>
          </a:p>
          <a:p>
            <a:r>
              <a:rPr lang="en-US" altLang="ko-KR" dirty="0"/>
              <a:t>Google Play Store, iOS App Store</a:t>
            </a:r>
          </a:p>
          <a:p>
            <a:r>
              <a:rPr lang="ko-KR" altLang="en-US" dirty="0"/>
              <a:t>인터넷 커뮤니티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물류 창고에 일정 기간 제공되지 못한 물품은 사업 수단으로  전환</a:t>
            </a:r>
            <a:endParaRPr lang="en-US" altLang="ko-KR" dirty="0"/>
          </a:p>
          <a:p>
            <a:r>
              <a:rPr lang="ko-KR" altLang="en-US" dirty="0"/>
              <a:t>판매</a:t>
            </a:r>
            <a:r>
              <a:rPr lang="en-US" altLang="ko-KR" dirty="0"/>
              <a:t>, </a:t>
            </a:r>
            <a:r>
              <a:rPr lang="ko-KR" altLang="en-US" dirty="0"/>
              <a:t>재활용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물건 분류</a:t>
            </a:r>
            <a:r>
              <a:rPr lang="en-US" altLang="ko-KR" dirty="0"/>
              <a:t>-</a:t>
            </a:r>
            <a:r>
              <a:rPr lang="ko-KR" altLang="en-US" dirty="0"/>
              <a:t>가치 평가 기술 판매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37746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2A227C-0EDE-4F2C-96E7-DC4EEBCB8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 latinLnBrk="1"/>
            <a:r>
              <a:rPr lang="ko-KR" altLang="en-US" dirty="0">
                <a:solidFill>
                  <a:schemeClr val="tx1"/>
                </a:solidFill>
              </a:rPr>
              <a:t>군 생활을 하며 필요한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필요 없는 물건 공유</a:t>
            </a:r>
            <a:endParaRPr lang="en-US" altLang="ko-KR" dirty="0">
              <a:solidFill>
                <a:schemeClr val="tx1"/>
              </a:solidFill>
            </a:endParaRPr>
          </a:p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 기부자에게 성취감 부여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부대와 연계하여 상점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휴가등</a:t>
            </a:r>
            <a:r>
              <a:rPr lang="ko-KR" altLang="en-US" dirty="0">
                <a:solidFill>
                  <a:schemeClr val="tx1"/>
                </a:solidFill>
              </a:rPr>
              <a:t> 포상 부여</a:t>
            </a:r>
            <a:endParaRPr lang="en-US" altLang="ko-KR" dirty="0">
              <a:solidFill>
                <a:schemeClr val="tx1"/>
              </a:solidFill>
            </a:endParaRPr>
          </a:p>
          <a:p>
            <a:pPr fontAlgn="base" latinLnBrk="1"/>
            <a:endParaRPr lang="ko-KR" alt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폐기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해야하는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물건 공유로 자원 낭비 방지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82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77BA-29A0-45D6-B208-0F0DCA49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활용 분야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2A227C-0EDE-4F2C-96E7-DC4EEBCB8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 latinLnBrk="1"/>
            <a:r>
              <a:rPr lang="en-US" altLang="ko-KR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</a:t>
            </a:r>
            <a:r>
              <a:rPr lang="en-US" altLang="ko-KR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use-case</a:t>
            </a:r>
            <a:endParaRPr lang="ko-KR" alt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곧 전역을 맞아 양말과 수건을 버리려고 한 김 병장은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서비스를 이용해 보급품이 더 필요한 타 부대의 최 일병에게 제공하였다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부대에서 부식으로 제공된 컵라면이 많이 남아 처리할 방법이 곤란했지만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서비스를 이용해 컵라면이 더 필요한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부대에 제공하였다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자신에게 더 이상 필요하지 않은 손전등과 휴대폰 거치대를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ArmyShare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서비스의 중개 거래 기능을 이용해 제공한 이 상병은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제공 후 받은 포인트를 이용해 자기에게 필요한 수저 통을 제공받았다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물건 분류</a:t>
            </a:r>
            <a:r>
              <a:rPr lang="en-US" altLang="ko-KR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평가 기술</a:t>
            </a:r>
            <a:endParaRPr lang="ko-KR" alt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∘ 여러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물건을 분류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평가하고 그 데이터를 활용해야 하는 기업에서 활용 될 수 있습니다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9755371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1805</Words>
  <Application>Microsoft Office PowerPoint</Application>
  <PresentationFormat>와이드스크린</PresentationFormat>
  <Paragraphs>187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바탕</vt:lpstr>
      <vt:lpstr>Arial</vt:lpstr>
      <vt:lpstr>Trebuchet MS</vt:lpstr>
      <vt:lpstr>Wingdings 3</vt:lpstr>
      <vt:lpstr>패싯</vt:lpstr>
      <vt:lpstr>2020  ICT 융합 아이디어 공모전 비대면 물품 공유 서비스 “ArmyShare” </vt:lpstr>
      <vt:lpstr>아이디어 소개</vt:lpstr>
      <vt:lpstr>제안 동기 사업화 배경</vt:lpstr>
      <vt:lpstr>핵심 키워드</vt:lpstr>
      <vt:lpstr>이용 타겟     플랫폼</vt:lpstr>
      <vt:lpstr>거래 방식</vt:lpstr>
      <vt:lpstr>앱 명세</vt:lpstr>
      <vt:lpstr>거래 프로세스 직접 거래     중개 거래</vt:lpstr>
      <vt:lpstr>기술적 가치와 사업적 가치</vt:lpstr>
      <vt:lpstr>독창성</vt:lpstr>
      <vt:lpstr>서비스 구현</vt:lpstr>
      <vt:lpstr>시장성과 사업화</vt:lpstr>
      <vt:lpstr>기대 효과</vt:lpstr>
      <vt:lpstr>활용 분야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  ICT 융합 아이디어 공모전 비대면 물품 공유 서비스 “ArmyShare” </dc:title>
  <dc:creator>Doyeop Kim</dc:creator>
  <cp:lastModifiedBy>Doyeop Kim</cp:lastModifiedBy>
  <cp:revision>9</cp:revision>
  <dcterms:created xsi:type="dcterms:W3CDTF">2020-10-28T04:49:07Z</dcterms:created>
  <dcterms:modified xsi:type="dcterms:W3CDTF">2020-10-28T06:00:34Z</dcterms:modified>
</cp:coreProperties>
</file>